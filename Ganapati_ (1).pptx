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Poppins" panose="00000500000000000000" pitchFamily="2" charset="0"/>
      <p:regular r:id="rId14"/>
      <p:bold r:id="rId15"/>
      <p:italic r:id="rId16"/>
      <p:boldItalic r:id="rId17"/>
    </p:embeddedFont>
    <p:embeddedFont>
      <p:font typeface="Poppins Medium" panose="00000600000000000000" pitchFamily="2" charset="0"/>
      <p:regular r:id="rId18"/>
      <p:bold r:id="rId19"/>
      <p:italic r:id="rId20"/>
      <p:boldItalic r:id="rId21"/>
    </p:embeddedFont>
    <p:embeddedFont>
      <p:font typeface="Proxima Nova"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4660"/>
  </p:normalViewPr>
  <p:slideViewPr>
    <p:cSldViewPr snapToGrid="0">
      <p:cViewPr varScale="1">
        <p:scale>
          <a:sx n="103" d="100"/>
          <a:sy n="103" d="100"/>
        </p:scale>
        <p:origin x="5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8c6986ff01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8c6986ff01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8c6986ff0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8c6986ff0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8c6986ff01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8c6986ff0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8c6986ff01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8c6986ff01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8c6986ff0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8c6986ff0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8c6986ff01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8c6986ff01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8c6986ff01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8c6986ff0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8c6986ff01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8c6986ff01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c6986ff01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c6986ff01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8c6986ff01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8c6986ff01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11700" y="3341023"/>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700">
                <a:solidFill>
                  <a:srgbClr val="202729"/>
                </a:solidFill>
                <a:latin typeface="Poppins Medium"/>
                <a:ea typeface="Poppins Medium"/>
                <a:cs typeface="Poppins Medium"/>
                <a:sym typeface="Poppins Medium"/>
              </a:rPr>
              <a:t>Team Name :</a:t>
            </a:r>
            <a:endParaRPr sz="1700">
              <a:solidFill>
                <a:srgbClr val="202729"/>
              </a:solidFill>
              <a:latin typeface="Poppins Medium"/>
              <a:ea typeface="Poppins Medium"/>
              <a:cs typeface="Poppins Medium"/>
              <a:sym typeface="Poppins Medium"/>
            </a:endParaRPr>
          </a:p>
        </p:txBody>
      </p:sp>
      <p:sp>
        <p:nvSpPr>
          <p:cNvPr id="55" name="Google Shape;55;p13"/>
          <p:cNvSpPr txBox="1"/>
          <p:nvPr/>
        </p:nvSpPr>
        <p:spPr>
          <a:xfrm>
            <a:off x="311688" y="3816145"/>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700">
                <a:solidFill>
                  <a:srgbClr val="202729"/>
                </a:solidFill>
                <a:latin typeface="Poppins Medium"/>
                <a:ea typeface="Poppins Medium"/>
                <a:cs typeface="Poppins Medium"/>
                <a:sym typeface="Poppins Medium"/>
              </a:rPr>
              <a:t>Team Leader Name :</a:t>
            </a:r>
            <a:endParaRPr sz="1700">
              <a:solidFill>
                <a:srgbClr val="202729"/>
              </a:solidFill>
              <a:latin typeface="Poppins Medium"/>
              <a:ea typeface="Poppins Medium"/>
              <a:cs typeface="Poppins Medium"/>
              <a:sym typeface="Poppins Medium"/>
            </a:endParaRPr>
          </a:p>
        </p:txBody>
      </p:sp>
      <p:sp>
        <p:nvSpPr>
          <p:cNvPr id="56" name="Google Shape;56;p13"/>
          <p:cNvSpPr txBox="1"/>
          <p:nvPr/>
        </p:nvSpPr>
        <p:spPr>
          <a:xfrm>
            <a:off x="311600" y="4303123"/>
            <a:ext cx="8520600" cy="396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None/>
            </a:pPr>
            <a:r>
              <a:rPr lang="en-GB" sz="1700">
                <a:solidFill>
                  <a:srgbClr val="202729"/>
                </a:solidFill>
                <a:latin typeface="Poppins Medium"/>
                <a:ea typeface="Poppins Medium"/>
                <a:cs typeface="Poppins Medium"/>
                <a:sym typeface="Poppins Medium"/>
              </a:rPr>
              <a:t>Problem Statement :</a:t>
            </a:r>
            <a:endParaRPr sz="1700">
              <a:solidFill>
                <a:srgbClr val="202729"/>
              </a:solidFill>
              <a:latin typeface="Poppins Medium"/>
              <a:ea typeface="Poppins Medium"/>
              <a:cs typeface="Poppins Medium"/>
              <a:sym typeface="Poppins Medium"/>
            </a:endParaRPr>
          </a:p>
        </p:txBody>
      </p:sp>
      <p:pic>
        <p:nvPicPr>
          <p:cNvPr id="57" name="Google Shape;57;p13" title="PPT Banner.png"/>
          <p:cNvPicPr preferRelativeResize="0"/>
          <p:nvPr/>
        </p:nvPicPr>
        <p:blipFill>
          <a:blip r:embed="rId3">
            <a:alphaModFix/>
          </a:blip>
          <a:stretch>
            <a:fillRect/>
          </a:stretch>
        </p:blipFill>
        <p:spPr>
          <a:xfrm>
            <a:off x="0" y="0"/>
            <a:ext cx="9143997" cy="3018234"/>
          </a:xfrm>
          <a:prstGeom prst="rect">
            <a:avLst/>
          </a:prstGeom>
          <a:noFill/>
          <a:ln>
            <a:noFill/>
          </a:ln>
        </p:spPr>
      </p:pic>
      <p:sp>
        <p:nvSpPr>
          <p:cNvPr id="58" name="Google Shape;58;p13"/>
          <p:cNvSpPr txBox="1"/>
          <p:nvPr/>
        </p:nvSpPr>
        <p:spPr>
          <a:xfrm flipH="1">
            <a:off x="2907300" y="3772855"/>
            <a:ext cx="62367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dirty="0">
                <a:solidFill>
                  <a:schemeClr val="dk2"/>
                </a:solidFill>
              </a:rPr>
              <a:t>Gourav Singh</a:t>
            </a:r>
            <a:endParaRPr sz="1800" dirty="0">
              <a:solidFill>
                <a:schemeClr val="dk2"/>
              </a:solidFill>
            </a:endParaRPr>
          </a:p>
        </p:txBody>
      </p:sp>
      <p:sp>
        <p:nvSpPr>
          <p:cNvPr id="59" name="Google Shape;59;p13"/>
          <p:cNvSpPr txBox="1"/>
          <p:nvPr/>
        </p:nvSpPr>
        <p:spPr>
          <a:xfrm>
            <a:off x="2024026" y="3273811"/>
            <a:ext cx="64863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dirty="0">
                <a:solidFill>
                  <a:schemeClr val="dk2"/>
                </a:solidFill>
              </a:rPr>
              <a:t>Ganapati</a:t>
            </a:r>
            <a:endParaRPr sz="1800" dirty="0">
              <a:solidFill>
                <a:schemeClr val="dk2"/>
              </a:solidFill>
            </a:endParaRPr>
          </a:p>
        </p:txBody>
      </p:sp>
      <p:sp>
        <p:nvSpPr>
          <p:cNvPr id="60" name="Google Shape;60;p13"/>
          <p:cNvSpPr txBox="1"/>
          <p:nvPr/>
        </p:nvSpPr>
        <p:spPr>
          <a:xfrm>
            <a:off x="2725323" y="4235923"/>
            <a:ext cx="83955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dirty="0">
                <a:solidFill>
                  <a:schemeClr val="dk2"/>
                </a:solidFill>
              </a:rPr>
              <a:t>Track 1: General Stablecoin Application</a:t>
            </a:r>
            <a:endParaRPr sz="1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p:nvPr/>
        </p:nvSpPr>
        <p:spPr>
          <a:xfrm>
            <a:off x="233174" y="1044173"/>
            <a:ext cx="4338826" cy="1357055"/>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600" dirty="0">
                <a:solidFill>
                  <a:srgbClr val="000000"/>
                </a:solidFill>
                <a:latin typeface="Poppins Medium"/>
                <a:ea typeface="Poppins Medium"/>
                <a:cs typeface="Poppins Medium"/>
                <a:sym typeface="Poppins Medium"/>
              </a:rPr>
              <a:t>Brief about the </a:t>
            </a:r>
            <a:r>
              <a:rPr lang="en-GB" sz="1600" dirty="0">
                <a:latin typeface="Poppins Medium"/>
                <a:ea typeface="Poppins Medium"/>
                <a:cs typeface="Poppins Medium"/>
                <a:sym typeface="Poppins Medium"/>
              </a:rPr>
              <a:t>Idea</a:t>
            </a:r>
            <a:r>
              <a:rPr lang="en-GB" sz="1600" dirty="0">
                <a:solidFill>
                  <a:srgbClr val="000000"/>
                </a:solidFill>
                <a:latin typeface="Poppins Medium"/>
                <a:ea typeface="Poppins Medium"/>
                <a:cs typeface="Poppins Medium"/>
                <a:sym typeface="Poppins Medium"/>
              </a:rPr>
              <a:t>:</a:t>
            </a:r>
            <a:endParaRPr sz="1600" dirty="0">
              <a:solidFill>
                <a:srgbClr val="000000"/>
              </a:solidFill>
              <a:latin typeface="Poppins Medium"/>
              <a:ea typeface="Poppins Medium"/>
              <a:cs typeface="Poppins Medium"/>
              <a:sym typeface="Poppins Medium"/>
            </a:endParaRPr>
          </a:p>
        </p:txBody>
      </p:sp>
      <p:pic>
        <p:nvPicPr>
          <p:cNvPr id="66" name="Google Shape;66;p14" title="Border frame PPT.png"/>
          <p:cNvPicPr preferRelativeResize="0"/>
          <p:nvPr/>
        </p:nvPicPr>
        <p:blipFill>
          <a:blip r:embed="rId3">
            <a:alphaModFix/>
          </a:blip>
          <a:stretch>
            <a:fillRect/>
          </a:stretch>
        </p:blipFill>
        <p:spPr>
          <a:xfrm>
            <a:off x="0" y="0"/>
            <a:ext cx="9144003" cy="750975"/>
          </a:xfrm>
          <a:prstGeom prst="rect">
            <a:avLst/>
          </a:prstGeom>
          <a:noFill/>
          <a:ln>
            <a:noFill/>
          </a:ln>
        </p:spPr>
      </p:pic>
      <p:sp>
        <p:nvSpPr>
          <p:cNvPr id="67" name="Google Shape;67;p14"/>
          <p:cNvSpPr txBox="1"/>
          <p:nvPr/>
        </p:nvSpPr>
        <p:spPr>
          <a:xfrm>
            <a:off x="2530300" y="1045225"/>
            <a:ext cx="6613800" cy="212362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dk2"/>
                </a:solidFill>
              </a:rPr>
              <a:t>Our idea is that Real estate assets can be registered, transferred, and tokenized by users through a property dealing </a:t>
            </a:r>
            <a:r>
              <a:rPr lang="en-US" sz="1800" dirty="0" err="1">
                <a:solidFill>
                  <a:schemeClr val="dk2"/>
                </a:solidFill>
              </a:rPr>
              <a:t>DApp</a:t>
            </a:r>
            <a:r>
              <a:rPr lang="en-US" sz="1800" dirty="0">
                <a:solidFill>
                  <a:schemeClr val="dk2"/>
                </a:solidFill>
              </a:rPr>
              <a:t> on Cardano, which uses smart contracts to provide legally binding ownership records.  Smooth real estate transactions are ensured by using Cardano stablecoins for escrow and payments, which also lessens dependency on middlemen.</a:t>
            </a:r>
            <a:endParaRPr sz="180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p:nvPr/>
        </p:nvSpPr>
        <p:spPr>
          <a:xfrm>
            <a:off x="241024" y="580077"/>
            <a:ext cx="8520600" cy="648807"/>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GB" sz="1600" dirty="0">
                <a:solidFill>
                  <a:srgbClr val="000000"/>
                </a:solidFill>
                <a:latin typeface="Poppins Medium"/>
                <a:ea typeface="Poppins Medium"/>
                <a:cs typeface="Poppins Medium"/>
                <a:sym typeface="Poppins Medium"/>
              </a:rPr>
              <a:t>  Opportunity should be able to explain the following:</a:t>
            </a:r>
          </a:p>
          <a:p>
            <a:pPr marL="127000" lvl="0" algn="l" rtl="0">
              <a:lnSpc>
                <a:spcPct val="115000"/>
              </a:lnSpc>
              <a:spcBef>
                <a:spcPts val="1200"/>
              </a:spcBef>
              <a:spcAft>
                <a:spcPts val="0"/>
              </a:spcAft>
              <a:buClr>
                <a:srgbClr val="081D54"/>
              </a:buClr>
              <a:buSzPts val="1600"/>
            </a:pPr>
            <a:endParaRPr lang="en-IN" sz="1600" dirty="0">
              <a:solidFill>
                <a:srgbClr val="616161"/>
              </a:solidFill>
              <a:latin typeface="Poppins"/>
              <a:ea typeface="Poppins"/>
              <a:cs typeface="Poppins"/>
              <a:sym typeface="Poppins"/>
            </a:endParaRPr>
          </a:p>
        </p:txBody>
      </p:sp>
      <p:pic>
        <p:nvPicPr>
          <p:cNvPr id="73" name="Google Shape;73;p15" title="Border frame PPT.png"/>
          <p:cNvPicPr preferRelativeResize="0"/>
          <p:nvPr/>
        </p:nvPicPr>
        <p:blipFill>
          <a:blip r:embed="rId3">
            <a:alphaModFix/>
          </a:blip>
          <a:stretch>
            <a:fillRect/>
          </a:stretch>
        </p:blipFill>
        <p:spPr>
          <a:xfrm>
            <a:off x="0" y="-47100"/>
            <a:ext cx="9144003" cy="776883"/>
          </a:xfrm>
          <a:prstGeom prst="rect">
            <a:avLst/>
          </a:prstGeom>
          <a:noFill/>
          <a:ln>
            <a:noFill/>
          </a:ln>
        </p:spPr>
      </p:pic>
      <p:sp>
        <p:nvSpPr>
          <p:cNvPr id="74" name="Google Shape;74;p15"/>
          <p:cNvSpPr txBox="1"/>
          <p:nvPr/>
        </p:nvSpPr>
        <p:spPr>
          <a:xfrm>
            <a:off x="241022" y="3807412"/>
            <a:ext cx="8308243" cy="1292631"/>
          </a:xfrm>
          <a:prstGeom prst="rect">
            <a:avLst/>
          </a:prstGeom>
          <a:noFill/>
          <a:ln>
            <a:noFill/>
          </a:ln>
        </p:spPr>
        <p:txBody>
          <a:bodyPr spcFirstLastPara="1" wrap="square" lIns="91425" tIns="91425" rIns="91425" bIns="91425" anchor="t" anchorCtr="0">
            <a:spAutoFit/>
          </a:bodyPr>
          <a:lstStyle/>
          <a:p>
            <a:pPr marL="285750" indent="-285750">
              <a:buFont typeface="Wingdings" panose="05000000000000000000" pitchFamily="2" charset="2"/>
              <a:buChar char="§"/>
            </a:pPr>
            <a:r>
              <a:rPr lang="en-GB" sz="1800" dirty="0">
                <a:solidFill>
                  <a:srgbClr val="616161"/>
                </a:solidFill>
                <a:latin typeface="Poppins"/>
                <a:ea typeface="Poppins"/>
                <a:cs typeface="Poppins"/>
                <a:sym typeface="Poppins"/>
              </a:rPr>
              <a:t>USP -</a:t>
            </a:r>
            <a:endParaRPr lang="en-US" sz="1800" dirty="0">
              <a:solidFill>
                <a:schemeClr val="dk2"/>
              </a:solidFill>
            </a:endParaRPr>
          </a:p>
          <a:p>
            <a:pPr lvl="0"/>
            <a:r>
              <a:rPr lang="en-US" sz="1800" dirty="0">
                <a:solidFill>
                  <a:schemeClr val="dk2"/>
                </a:solidFill>
              </a:rPr>
              <a:t>Fractionalize the world's real estate and launch joint development projects right from your mobile. Invest securely, connect globally, and earn high ROI with instant liquidity on our blockchain </a:t>
            </a:r>
            <a:r>
              <a:rPr lang="en-US" sz="1800" dirty="0" err="1">
                <a:solidFill>
                  <a:schemeClr val="dk2"/>
                </a:solidFill>
              </a:rPr>
              <a:t>DApp</a:t>
            </a:r>
            <a:r>
              <a:rPr lang="en-US" sz="1800" dirty="0">
                <a:solidFill>
                  <a:schemeClr val="dk2"/>
                </a:solidFill>
              </a:rPr>
              <a:t>.</a:t>
            </a:r>
            <a:endParaRPr sz="1800" dirty="0">
              <a:solidFill>
                <a:schemeClr val="dk2"/>
              </a:solidFill>
            </a:endParaRPr>
          </a:p>
        </p:txBody>
      </p:sp>
      <p:sp>
        <p:nvSpPr>
          <p:cNvPr id="2" name="Google Shape;74;p15">
            <a:extLst>
              <a:ext uri="{FF2B5EF4-FFF2-40B4-BE49-F238E27FC236}">
                <a16:creationId xmlns:a16="http://schemas.microsoft.com/office/drawing/2014/main" id="{E0720285-4160-6429-1F85-CECA11401346}"/>
              </a:ext>
            </a:extLst>
          </p:cNvPr>
          <p:cNvSpPr txBox="1"/>
          <p:nvPr/>
        </p:nvSpPr>
        <p:spPr>
          <a:xfrm>
            <a:off x="241022" y="2473776"/>
            <a:ext cx="8761727" cy="1292631"/>
          </a:xfrm>
          <a:prstGeom prst="rect">
            <a:avLst/>
          </a:prstGeom>
          <a:noFill/>
          <a:ln>
            <a:noFill/>
          </a:ln>
        </p:spPr>
        <p:txBody>
          <a:bodyPr spcFirstLastPara="1" wrap="square" lIns="91425" tIns="91425" rIns="91425" bIns="91425" anchor="t" anchorCtr="0">
            <a:spAutoFit/>
          </a:bodyPr>
          <a:lstStyle/>
          <a:p>
            <a:pPr marL="285750" indent="-285750">
              <a:buFont typeface="Wingdings" panose="05000000000000000000" pitchFamily="2" charset="2"/>
              <a:buChar char="§"/>
            </a:pPr>
            <a:r>
              <a:rPr lang="en-GB" sz="1800" dirty="0">
                <a:solidFill>
                  <a:srgbClr val="616161"/>
                </a:solidFill>
                <a:latin typeface="Poppins"/>
                <a:ea typeface="Poppins"/>
                <a:cs typeface="Poppins"/>
                <a:sym typeface="Poppins"/>
              </a:rPr>
              <a:t>Solution to the Problem -</a:t>
            </a:r>
            <a:endParaRPr lang="en-US" sz="1800" dirty="0">
              <a:solidFill>
                <a:schemeClr val="dk2"/>
              </a:solidFill>
            </a:endParaRPr>
          </a:p>
          <a:p>
            <a:pPr lvl="0"/>
            <a:r>
              <a:rPr lang="en-US" sz="1800" dirty="0">
                <a:solidFill>
                  <a:schemeClr val="dk2"/>
                </a:solidFill>
              </a:rPr>
              <a:t>We smash the traditional barriers of real estate: High cost and Non-liquidity. Own fractional property and launch joint ventures globally directly from your phone, maximizing your ROI and building a powerful investment network within our </a:t>
            </a:r>
            <a:r>
              <a:rPr lang="en-US" sz="1800" dirty="0" err="1">
                <a:solidFill>
                  <a:schemeClr val="dk2"/>
                </a:solidFill>
              </a:rPr>
              <a:t>DApp</a:t>
            </a:r>
            <a:r>
              <a:rPr lang="en-US" sz="1800" dirty="0">
                <a:solidFill>
                  <a:schemeClr val="dk2"/>
                </a:solidFill>
              </a:rPr>
              <a:t>.</a:t>
            </a:r>
            <a:endParaRPr sz="1800" dirty="0">
              <a:solidFill>
                <a:schemeClr val="dk2"/>
              </a:solidFill>
            </a:endParaRPr>
          </a:p>
        </p:txBody>
      </p:sp>
      <p:sp>
        <p:nvSpPr>
          <p:cNvPr id="4" name="Google Shape;74;p15">
            <a:extLst>
              <a:ext uri="{FF2B5EF4-FFF2-40B4-BE49-F238E27FC236}">
                <a16:creationId xmlns:a16="http://schemas.microsoft.com/office/drawing/2014/main" id="{BBC973C9-2BDF-3B8E-2877-049137C5E8BD}"/>
              </a:ext>
            </a:extLst>
          </p:cNvPr>
          <p:cNvSpPr txBox="1"/>
          <p:nvPr/>
        </p:nvSpPr>
        <p:spPr>
          <a:xfrm>
            <a:off x="241022" y="1140141"/>
            <a:ext cx="8308243" cy="1292631"/>
          </a:xfrm>
          <a:prstGeom prst="rect">
            <a:avLst/>
          </a:prstGeom>
          <a:noFill/>
          <a:ln>
            <a:noFill/>
          </a:ln>
        </p:spPr>
        <p:txBody>
          <a:bodyPr spcFirstLastPara="1" wrap="square" lIns="91425" tIns="91425" rIns="91425" bIns="91425" anchor="t" anchorCtr="0">
            <a:spAutoFit/>
          </a:bodyPr>
          <a:lstStyle/>
          <a:p>
            <a:pPr marL="285750" indent="-285750">
              <a:buFont typeface="Wingdings" panose="05000000000000000000" pitchFamily="2" charset="2"/>
              <a:buChar char="§"/>
            </a:pPr>
            <a:r>
              <a:rPr lang="en-GB" sz="1800" dirty="0">
                <a:solidFill>
                  <a:srgbClr val="616161"/>
                </a:solidFill>
                <a:latin typeface="Poppins"/>
                <a:ea typeface="Poppins"/>
                <a:cs typeface="Poppins"/>
                <a:sym typeface="Poppins"/>
              </a:rPr>
              <a:t>Difference -</a:t>
            </a:r>
            <a:endParaRPr lang="en-US" sz="1800" dirty="0">
              <a:solidFill>
                <a:schemeClr val="dk2"/>
              </a:solidFill>
            </a:endParaRPr>
          </a:p>
          <a:p>
            <a:pPr lvl="0"/>
            <a:r>
              <a:rPr lang="en-US" sz="1800" dirty="0">
                <a:solidFill>
                  <a:schemeClr val="dk2"/>
                </a:solidFill>
              </a:rPr>
              <a:t>Stop dealing with high costs and slow sales. Buy fractional ownership or partner to build properties worldwide, instantly from your phone. Our app gives you easy access and control to maximize your profits.</a:t>
            </a:r>
            <a:endParaRPr sz="180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p:nvPr/>
        </p:nvSpPr>
        <p:spPr>
          <a:xfrm>
            <a:off x="288125" y="1057700"/>
            <a:ext cx="7486500" cy="399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1800" dirty="0">
                <a:solidFill>
                  <a:srgbClr val="000000"/>
                </a:solidFill>
                <a:latin typeface="Poppins Medium"/>
                <a:ea typeface="Poppins Medium"/>
                <a:cs typeface="Poppins Medium"/>
                <a:sym typeface="Poppins Medium"/>
              </a:rPr>
              <a:t>List of features offered by the solution</a:t>
            </a:r>
            <a:endParaRPr sz="1800" dirty="0">
              <a:solidFill>
                <a:srgbClr val="000000"/>
              </a:solidFill>
              <a:latin typeface="Poppins Medium"/>
              <a:ea typeface="Poppins Medium"/>
              <a:cs typeface="Poppins Medium"/>
              <a:sym typeface="Poppins Medium"/>
            </a:endParaRPr>
          </a:p>
          <a:p>
            <a:pPr lvl="0">
              <a:lnSpc>
                <a:spcPct val="115000"/>
              </a:lnSpc>
              <a:spcBef>
                <a:spcPts val="1200"/>
              </a:spcBef>
              <a:spcAft>
                <a:spcPts val="1200"/>
              </a:spcAft>
            </a:pPr>
            <a:r>
              <a:rPr lang="en-US" sz="1600" dirty="0">
                <a:solidFill>
                  <a:srgbClr val="616161"/>
                </a:solidFill>
                <a:latin typeface="Poppins"/>
                <a:ea typeface="Poppins"/>
                <a:cs typeface="Poppins"/>
                <a:sym typeface="Poppins"/>
              </a:rPr>
              <a:t>1. Direct Fractional Ownership </a:t>
            </a:r>
          </a:p>
          <a:p>
            <a:pPr lvl="0">
              <a:lnSpc>
                <a:spcPct val="115000"/>
              </a:lnSpc>
              <a:spcBef>
                <a:spcPts val="1200"/>
              </a:spcBef>
              <a:spcAft>
                <a:spcPts val="1200"/>
              </a:spcAft>
            </a:pPr>
            <a:r>
              <a:rPr lang="en-US" sz="1600" dirty="0">
                <a:solidFill>
                  <a:srgbClr val="616161"/>
                </a:solidFill>
                <a:latin typeface="Poppins"/>
                <a:ea typeface="Poppins"/>
                <a:cs typeface="Poppins"/>
                <a:sym typeface="Poppins"/>
              </a:rPr>
              <a:t>2. Global Syndication</a:t>
            </a:r>
          </a:p>
          <a:p>
            <a:pPr lvl="0">
              <a:lnSpc>
                <a:spcPct val="115000"/>
              </a:lnSpc>
              <a:spcBef>
                <a:spcPts val="1200"/>
              </a:spcBef>
              <a:spcAft>
                <a:spcPts val="1200"/>
              </a:spcAft>
            </a:pPr>
            <a:r>
              <a:rPr lang="en-US" sz="1600" dirty="0">
                <a:solidFill>
                  <a:srgbClr val="616161"/>
                </a:solidFill>
                <a:latin typeface="Poppins"/>
                <a:ea typeface="Poppins"/>
                <a:cs typeface="Poppins"/>
                <a:sym typeface="Poppins"/>
              </a:rPr>
              <a:t>3. Mobile Command </a:t>
            </a:r>
          </a:p>
          <a:p>
            <a:pPr lvl="0">
              <a:lnSpc>
                <a:spcPct val="115000"/>
              </a:lnSpc>
              <a:spcBef>
                <a:spcPts val="1200"/>
              </a:spcBef>
              <a:spcAft>
                <a:spcPts val="1200"/>
              </a:spcAft>
            </a:pPr>
            <a:r>
              <a:rPr lang="en-US" sz="1600" dirty="0">
                <a:solidFill>
                  <a:srgbClr val="616161"/>
                </a:solidFill>
                <a:latin typeface="Poppins"/>
                <a:ea typeface="Poppins"/>
                <a:cs typeface="Poppins"/>
                <a:sym typeface="Poppins"/>
              </a:rPr>
              <a:t>4. Token Based </a:t>
            </a:r>
          </a:p>
          <a:p>
            <a:pPr lvl="0">
              <a:lnSpc>
                <a:spcPct val="115000"/>
              </a:lnSpc>
              <a:spcBef>
                <a:spcPts val="1200"/>
              </a:spcBef>
              <a:spcAft>
                <a:spcPts val="1200"/>
              </a:spcAft>
            </a:pPr>
            <a:r>
              <a:rPr lang="en-US" sz="1600" dirty="0">
                <a:solidFill>
                  <a:srgbClr val="616161"/>
                </a:solidFill>
                <a:latin typeface="Poppins"/>
                <a:ea typeface="Poppins"/>
                <a:cs typeface="Poppins"/>
                <a:sym typeface="Poppins"/>
              </a:rPr>
              <a:t>5. Incentivized Global Network</a:t>
            </a:r>
            <a:endParaRPr sz="1600" dirty="0">
              <a:solidFill>
                <a:srgbClr val="616161"/>
              </a:solidFill>
              <a:latin typeface="Poppins"/>
              <a:ea typeface="Poppins"/>
              <a:cs typeface="Poppins"/>
              <a:sym typeface="Poppins"/>
            </a:endParaRPr>
          </a:p>
        </p:txBody>
      </p:sp>
      <p:pic>
        <p:nvPicPr>
          <p:cNvPr id="80" name="Google Shape;80;p16" title="Border frame PPT.png"/>
          <p:cNvPicPr preferRelativeResize="0"/>
          <p:nvPr/>
        </p:nvPicPr>
        <p:blipFill>
          <a:blip r:embed="rId3">
            <a:alphaModFix/>
          </a:blip>
          <a:stretch>
            <a:fillRect/>
          </a:stretch>
        </p:blipFill>
        <p:spPr>
          <a:xfrm>
            <a:off x="0" y="0"/>
            <a:ext cx="9144003" cy="7768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311700" y="966200"/>
            <a:ext cx="8520600" cy="4041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1600">
                <a:solidFill>
                  <a:srgbClr val="000000"/>
                </a:solidFill>
                <a:latin typeface="Poppins Medium"/>
                <a:ea typeface="Poppins Medium"/>
                <a:cs typeface="Poppins Medium"/>
                <a:sym typeface="Poppins Medium"/>
              </a:rPr>
              <a:t>Process flow diagram or Use-case diagram</a:t>
            </a:r>
            <a:endParaRPr sz="1600">
              <a:solidFill>
                <a:srgbClr val="000000"/>
              </a:solidFill>
              <a:latin typeface="Poppins Medium"/>
              <a:ea typeface="Poppins Medium"/>
              <a:cs typeface="Poppins Medium"/>
              <a:sym typeface="Poppins Medium"/>
            </a:endParaRPr>
          </a:p>
          <a:p>
            <a:pPr marL="0" lvl="0" indent="0" algn="l" rtl="0">
              <a:lnSpc>
                <a:spcPct val="115000"/>
              </a:lnSpc>
              <a:spcBef>
                <a:spcPts val="1200"/>
              </a:spcBef>
              <a:spcAft>
                <a:spcPts val="1200"/>
              </a:spcAft>
              <a:buNone/>
            </a:pPr>
            <a:endParaRPr sz="1600" b="1">
              <a:solidFill>
                <a:srgbClr val="616161"/>
              </a:solidFill>
              <a:latin typeface="Proxima Nova"/>
              <a:ea typeface="Proxima Nova"/>
              <a:cs typeface="Proxima Nova"/>
              <a:sym typeface="Proxima Nova"/>
            </a:endParaRPr>
          </a:p>
        </p:txBody>
      </p:sp>
      <p:pic>
        <p:nvPicPr>
          <p:cNvPr id="86" name="Google Shape;86;p17" title="Border frame PPT.png"/>
          <p:cNvPicPr preferRelativeResize="0"/>
          <p:nvPr/>
        </p:nvPicPr>
        <p:blipFill>
          <a:blip r:embed="rId3">
            <a:alphaModFix/>
          </a:blip>
          <a:stretch>
            <a:fillRect/>
          </a:stretch>
        </p:blipFill>
        <p:spPr>
          <a:xfrm>
            <a:off x="0" y="0"/>
            <a:ext cx="9143997" cy="776883"/>
          </a:xfrm>
          <a:prstGeom prst="rect">
            <a:avLst/>
          </a:prstGeom>
          <a:noFill/>
          <a:ln>
            <a:noFill/>
          </a:ln>
        </p:spPr>
      </p:pic>
      <p:pic>
        <p:nvPicPr>
          <p:cNvPr id="3" name="Picture 2">
            <a:extLst>
              <a:ext uri="{FF2B5EF4-FFF2-40B4-BE49-F238E27FC236}">
                <a16:creationId xmlns:a16="http://schemas.microsoft.com/office/drawing/2014/main" id="{36F5267D-66E3-475E-CDCF-B16A49F72E8F}"/>
              </a:ext>
            </a:extLst>
          </p:cNvPr>
          <p:cNvPicPr>
            <a:picLocks noChangeAspect="1"/>
          </p:cNvPicPr>
          <p:nvPr/>
        </p:nvPicPr>
        <p:blipFill>
          <a:blip r:embed="rId4"/>
          <a:stretch>
            <a:fillRect/>
          </a:stretch>
        </p:blipFill>
        <p:spPr>
          <a:xfrm>
            <a:off x="1189463" y="1322174"/>
            <a:ext cx="6501112" cy="38213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p:nvPr/>
        </p:nvSpPr>
        <p:spPr>
          <a:xfrm>
            <a:off x="311700" y="1019925"/>
            <a:ext cx="8520600" cy="4041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GB" sz="1600">
                <a:solidFill>
                  <a:srgbClr val="000000"/>
                </a:solidFill>
                <a:latin typeface="Poppins Medium"/>
                <a:ea typeface="Poppins Medium"/>
                <a:cs typeface="Poppins Medium"/>
                <a:sym typeface="Poppins Medium"/>
              </a:rPr>
              <a:t>Wireframes/Mock diagrams of the proposed solution</a:t>
            </a:r>
            <a:endParaRPr sz="1600">
              <a:solidFill>
                <a:srgbClr val="000000"/>
              </a:solidFill>
              <a:latin typeface="Poppins Medium"/>
              <a:ea typeface="Poppins Medium"/>
              <a:cs typeface="Poppins Medium"/>
              <a:sym typeface="Poppins Medium"/>
            </a:endParaRPr>
          </a:p>
        </p:txBody>
      </p:sp>
      <p:pic>
        <p:nvPicPr>
          <p:cNvPr id="93" name="Google Shape;93;p18" title="Border frame PPT.png"/>
          <p:cNvPicPr preferRelativeResize="0"/>
          <p:nvPr/>
        </p:nvPicPr>
        <p:blipFill>
          <a:blip r:embed="rId3">
            <a:alphaModFix/>
          </a:blip>
          <a:stretch>
            <a:fillRect/>
          </a:stretch>
        </p:blipFill>
        <p:spPr>
          <a:xfrm>
            <a:off x="0" y="0"/>
            <a:ext cx="9144003" cy="776883"/>
          </a:xfrm>
          <a:prstGeom prst="rect">
            <a:avLst/>
          </a:prstGeom>
          <a:noFill/>
          <a:ln>
            <a:noFill/>
          </a:ln>
        </p:spPr>
      </p:pic>
      <p:sp>
        <p:nvSpPr>
          <p:cNvPr id="94" name="Google Shape;94;p18"/>
          <p:cNvSpPr txBox="1"/>
          <p:nvPr/>
        </p:nvSpPr>
        <p:spPr>
          <a:xfrm>
            <a:off x="609600" y="1454266"/>
            <a:ext cx="7501800" cy="13203584"/>
          </a:xfrm>
          <a:prstGeom prst="rect">
            <a:avLst/>
          </a:prstGeom>
          <a:noFill/>
          <a:ln>
            <a:noFill/>
          </a:ln>
        </p:spPr>
        <p:txBody>
          <a:bodyPr spcFirstLastPara="1" wrap="square" lIns="91425" tIns="91425" rIns="91425" bIns="91425" anchor="t" anchorCtr="0">
            <a:spAutoFit/>
          </a:bodyPr>
          <a:lstStyle/>
          <a:p>
            <a:pPr lvl="0"/>
            <a:r>
              <a:rPr lang="en-GB" sz="1800" dirty="0">
                <a:solidFill>
                  <a:schemeClr val="dk2"/>
                </a:solidFill>
              </a:rPr>
              <a:t>[User / Mobile / Web]</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 Flutter Frontend App │ ← Flutter / Dart (Property Portal)</a:t>
            </a:r>
          </a:p>
          <a:p>
            <a:pPr lvl="0"/>
            <a:r>
              <a:rPr lang="en-GB" sz="1800" dirty="0">
                <a:solidFill>
                  <a:schemeClr val="dk2"/>
                </a:solidFill>
              </a:rPr>
              <a:t> └──────────────────────┘</a:t>
            </a:r>
          </a:p>
          <a:p>
            <a:pPr lvl="0"/>
            <a:r>
              <a:rPr lang="en-GB" sz="1800" dirty="0">
                <a:solidFill>
                  <a:schemeClr val="dk2"/>
                </a:solidFill>
              </a:rPr>
              <a:t>         │ HTTPS / </a:t>
            </a:r>
            <a:r>
              <a:rPr lang="en-GB" sz="1800" dirty="0" err="1">
                <a:solidFill>
                  <a:schemeClr val="dk2"/>
                </a:solidFill>
              </a:rPr>
              <a:t>Eternl</a:t>
            </a:r>
            <a:r>
              <a:rPr lang="en-GB" sz="1800" dirty="0">
                <a:solidFill>
                  <a:schemeClr val="dk2"/>
                </a:solidFill>
              </a:rPr>
              <a:t> Wallet</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 API Gateway /         │</a:t>
            </a:r>
          </a:p>
          <a:p>
            <a:pPr lvl="0"/>
            <a:r>
              <a:rPr lang="en-GB" sz="1800" dirty="0">
                <a:solidFill>
                  <a:schemeClr val="dk2"/>
                </a:solidFill>
              </a:rPr>
              <a:t> │ Auth (JWT / DID / CIP)│</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           │</a:t>
            </a:r>
          </a:p>
          <a:p>
            <a:pPr lvl="0"/>
            <a:r>
              <a:rPr lang="en-GB" sz="1800" dirty="0">
                <a:solidFill>
                  <a:schemeClr val="dk2"/>
                </a:solidFill>
              </a:rPr>
              <a:t>   ▼           ▼</a:t>
            </a:r>
          </a:p>
          <a:p>
            <a:pPr lvl="0"/>
            <a:r>
              <a:rPr lang="en-GB" sz="1800" dirty="0">
                <a:solidFill>
                  <a:schemeClr val="dk2"/>
                </a:solidFill>
              </a:rPr>
              <a:t> ┌───────────────┐ ┌────────────────────┐</a:t>
            </a:r>
          </a:p>
          <a:p>
            <a:pPr lvl="0"/>
            <a:r>
              <a:rPr lang="en-GB" sz="1800" dirty="0">
                <a:solidFill>
                  <a:schemeClr val="dk2"/>
                </a:solidFill>
              </a:rPr>
              <a:t> │ Asset Manager │ │ Off-chain Workers  │</a:t>
            </a:r>
          </a:p>
          <a:p>
            <a:pPr lvl="0"/>
            <a:r>
              <a:rPr lang="en-GB" sz="1800" dirty="0">
                <a:solidFill>
                  <a:schemeClr val="dk2"/>
                </a:solidFill>
              </a:rPr>
              <a:t> │ (Property Reg)│ │ (Event Bus, Broker)│</a:t>
            </a:r>
          </a:p>
          <a:p>
            <a:pPr lvl="0"/>
            <a:r>
              <a:rPr lang="en-GB" sz="1800" dirty="0">
                <a:solidFill>
                  <a:schemeClr val="dk2"/>
                </a:solidFill>
              </a:rPr>
              <a:t> └───────────────┘ └────────────────────┘</a:t>
            </a:r>
          </a:p>
          <a:p>
            <a:pPr lvl="0"/>
            <a:r>
              <a:rPr lang="en-GB" sz="1800" dirty="0">
                <a:solidFill>
                  <a:schemeClr val="dk2"/>
                </a:solidFill>
              </a:rPr>
              <a:t>      │     │           │</a:t>
            </a:r>
          </a:p>
          <a:p>
            <a:pPr lvl="0"/>
            <a:r>
              <a:rPr lang="en-GB" sz="1800" dirty="0">
                <a:solidFill>
                  <a:schemeClr val="dk2"/>
                </a:solidFill>
              </a:rPr>
              <a:t>      │     └─────┐     │</a:t>
            </a:r>
          </a:p>
          <a:p>
            <a:pPr lvl="0"/>
            <a:r>
              <a:rPr lang="en-GB" sz="1800" dirty="0">
                <a:solidFill>
                  <a:schemeClr val="dk2"/>
                </a:solidFill>
              </a:rPr>
              <a:t>      │           ▼     ▼</a:t>
            </a:r>
          </a:p>
          <a:p>
            <a:pPr lvl="0"/>
            <a:r>
              <a:rPr lang="en-GB" sz="1800" dirty="0">
                <a:solidFill>
                  <a:schemeClr val="dk2"/>
                </a:solidFill>
              </a:rPr>
              <a:t>      │      ┌─────────────┐   ┌─────────────────────┐</a:t>
            </a:r>
          </a:p>
          <a:p>
            <a:pPr lvl="0"/>
            <a:r>
              <a:rPr lang="en-GB" sz="1800" dirty="0">
                <a:solidFill>
                  <a:schemeClr val="dk2"/>
                </a:solidFill>
              </a:rPr>
              <a:t>      │      │Oracle APIs  │   │External Services    │</a:t>
            </a:r>
          </a:p>
          <a:p>
            <a:pPr lvl="0"/>
            <a:r>
              <a:rPr lang="en-GB" sz="1800" dirty="0">
                <a:solidFill>
                  <a:schemeClr val="dk2"/>
                </a:solidFill>
              </a:rPr>
              <a:t>      │      │(Valuation,  │   │(DeFi, DAO, Payments)│</a:t>
            </a:r>
          </a:p>
          <a:p>
            <a:pPr lvl="0"/>
            <a:r>
              <a:rPr lang="en-GB" sz="1800" dirty="0">
                <a:solidFill>
                  <a:schemeClr val="dk2"/>
                </a:solidFill>
              </a:rPr>
              <a:t>      │      │KYC, Legals) │   └─────────────────────┘</a:t>
            </a:r>
          </a:p>
          <a:p>
            <a:pPr lvl="0"/>
            <a:r>
              <a:rPr lang="en-GB" sz="1800" dirty="0">
                <a:solidFill>
                  <a:schemeClr val="dk2"/>
                </a:solidFill>
              </a:rPr>
              <a:t>      │      └─────────────┘</a:t>
            </a:r>
          </a:p>
          <a:p>
            <a:pPr lvl="0"/>
            <a:r>
              <a:rPr lang="en-GB" sz="1800" dirty="0">
                <a:solidFill>
                  <a:schemeClr val="dk2"/>
                </a:solidFill>
              </a:rPr>
              <a:t>      │           │</a:t>
            </a:r>
          </a:p>
          <a:p>
            <a:pPr lvl="0"/>
            <a:r>
              <a:rPr lang="en-GB" sz="1800" dirty="0">
                <a:solidFill>
                  <a:schemeClr val="dk2"/>
                </a:solidFill>
              </a:rPr>
              <a:t>      ▼           │</a:t>
            </a:r>
          </a:p>
          <a:p>
            <a:pPr lvl="0"/>
            <a:r>
              <a:rPr lang="en-GB" sz="1800" dirty="0">
                <a:solidFill>
                  <a:schemeClr val="dk2"/>
                </a:solidFill>
              </a:rPr>
              <a:t> ┌───────────────────┐</a:t>
            </a:r>
          </a:p>
          <a:p>
            <a:pPr lvl="0"/>
            <a:r>
              <a:rPr lang="en-GB" sz="1800" dirty="0">
                <a:solidFill>
                  <a:schemeClr val="dk2"/>
                </a:solidFill>
              </a:rPr>
              <a:t> │ Secure Storage /  │</a:t>
            </a:r>
          </a:p>
          <a:p>
            <a:pPr lvl="0"/>
            <a:r>
              <a:rPr lang="en-GB" sz="1800" dirty="0">
                <a:solidFill>
                  <a:schemeClr val="dk2"/>
                </a:solidFill>
              </a:rPr>
              <a:t> │ Metadata (IPFS)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 Cardano Smart Contract  │</a:t>
            </a:r>
          </a:p>
          <a:p>
            <a:pPr lvl="0"/>
            <a:r>
              <a:rPr lang="en-GB" sz="1800" dirty="0">
                <a:solidFill>
                  <a:schemeClr val="dk2"/>
                </a:solidFill>
              </a:rPr>
              <a:t> │ (Aiken / Plutus, Stable │</a:t>
            </a:r>
          </a:p>
          <a:p>
            <a:pPr lvl="0"/>
            <a:r>
              <a:rPr lang="en-GB" sz="1800" dirty="0">
                <a:solidFill>
                  <a:schemeClr val="dk2"/>
                </a:solidFill>
              </a:rPr>
              <a:t> │ Coin Escrow, NFT Mint)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a:t>
            </a:r>
          </a:p>
          <a:p>
            <a:pPr lvl="0"/>
            <a:r>
              <a:rPr lang="en-GB" sz="1800" dirty="0">
                <a:solidFill>
                  <a:schemeClr val="dk2"/>
                </a:solidFill>
              </a:rPr>
              <a:t> │On-chain Records /       │</a:t>
            </a:r>
          </a:p>
          <a:p>
            <a:pPr lvl="0"/>
            <a:r>
              <a:rPr lang="en-GB" sz="1800" dirty="0">
                <a:solidFill>
                  <a:schemeClr val="dk2"/>
                </a:solidFill>
              </a:rPr>
              <a:t> │Property Ledger (</a:t>
            </a:r>
            <a:r>
              <a:rPr lang="en-GB" sz="1800" dirty="0" err="1">
                <a:solidFill>
                  <a:schemeClr val="dk2"/>
                </a:solidFill>
              </a:rPr>
              <a:t>UTxO</a:t>
            </a:r>
            <a:r>
              <a:rPr lang="en-GB" sz="1800" dirty="0">
                <a:solidFill>
                  <a:schemeClr val="dk2"/>
                </a:solidFill>
              </a:rPr>
              <a:t>)   │</a:t>
            </a:r>
          </a:p>
          <a:p>
            <a:pPr lvl="0"/>
            <a:r>
              <a:rPr lang="en-GB" sz="1800" dirty="0">
                <a:solidFill>
                  <a:schemeClr val="dk2"/>
                </a:solidFil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p:nvPr/>
        </p:nvSpPr>
        <p:spPr>
          <a:xfrm>
            <a:off x="311700" y="982000"/>
            <a:ext cx="8520600" cy="4041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GB" sz="1600" dirty="0">
                <a:solidFill>
                  <a:srgbClr val="000000"/>
                </a:solidFill>
                <a:latin typeface="Poppins Medium"/>
                <a:ea typeface="Poppins Medium"/>
                <a:cs typeface="Poppins Medium"/>
                <a:sym typeface="Poppins Medium"/>
              </a:rPr>
              <a:t>Architecture diagram of the proposed solution</a:t>
            </a:r>
            <a:endParaRPr sz="1600" dirty="0">
              <a:solidFill>
                <a:srgbClr val="000000"/>
              </a:solidFill>
              <a:latin typeface="Poppins Medium"/>
              <a:ea typeface="Poppins Medium"/>
              <a:cs typeface="Poppins Medium"/>
              <a:sym typeface="Poppins Medium"/>
            </a:endParaRPr>
          </a:p>
        </p:txBody>
      </p:sp>
      <p:pic>
        <p:nvPicPr>
          <p:cNvPr id="100" name="Google Shape;100;p19" title="Border frame PPT.png"/>
          <p:cNvPicPr preferRelativeResize="0"/>
          <p:nvPr/>
        </p:nvPicPr>
        <p:blipFill>
          <a:blip r:embed="rId3">
            <a:alphaModFix/>
          </a:blip>
          <a:stretch>
            <a:fillRect/>
          </a:stretch>
        </p:blipFill>
        <p:spPr>
          <a:xfrm>
            <a:off x="0" y="0"/>
            <a:ext cx="9143997" cy="776883"/>
          </a:xfrm>
          <a:prstGeom prst="rect">
            <a:avLst/>
          </a:prstGeom>
          <a:noFill/>
          <a:ln>
            <a:noFill/>
          </a:ln>
        </p:spPr>
      </p:pic>
      <p:pic>
        <p:nvPicPr>
          <p:cNvPr id="3" name="Picture 2">
            <a:extLst>
              <a:ext uri="{FF2B5EF4-FFF2-40B4-BE49-F238E27FC236}">
                <a16:creationId xmlns:a16="http://schemas.microsoft.com/office/drawing/2014/main" id="{6F5EC34C-43E4-F2A8-A4E0-52E2CC10394F}"/>
              </a:ext>
            </a:extLst>
          </p:cNvPr>
          <p:cNvPicPr>
            <a:picLocks noChangeAspect="1"/>
          </p:cNvPicPr>
          <p:nvPr/>
        </p:nvPicPr>
        <p:blipFill>
          <a:blip r:embed="rId4"/>
          <a:stretch>
            <a:fillRect/>
          </a:stretch>
        </p:blipFill>
        <p:spPr>
          <a:xfrm>
            <a:off x="4393580" y="1358014"/>
            <a:ext cx="4495582" cy="32898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p:nvPr/>
        </p:nvSpPr>
        <p:spPr>
          <a:xfrm>
            <a:off x="311700" y="998975"/>
            <a:ext cx="8520600" cy="40125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Clr>
                <a:srgbClr val="616161"/>
              </a:buClr>
              <a:buSzPts val="1800"/>
              <a:buFont typeface="Proxima Nova"/>
              <a:buNone/>
            </a:pPr>
            <a:r>
              <a:rPr lang="en-GB" sz="1600" dirty="0">
                <a:solidFill>
                  <a:srgbClr val="000000"/>
                </a:solidFill>
                <a:latin typeface="Poppins Medium"/>
                <a:ea typeface="Poppins Medium"/>
                <a:cs typeface="Poppins Medium"/>
                <a:sym typeface="Poppins Medium"/>
              </a:rPr>
              <a:t>Technologies to be used in the solution: </a:t>
            </a:r>
            <a:endParaRPr lang="en-GB" sz="1600" dirty="0">
              <a:latin typeface="Poppins Medium"/>
              <a:ea typeface="Poppins Medium"/>
              <a:cs typeface="Poppins Medium"/>
              <a:sym typeface="Poppins Medium"/>
            </a:endParaRPr>
          </a:p>
          <a:p>
            <a:pPr marL="0" marR="0" lvl="0" indent="0" algn="l" rtl="0">
              <a:lnSpc>
                <a:spcPct val="115000"/>
              </a:lnSpc>
              <a:spcBef>
                <a:spcPts val="0"/>
              </a:spcBef>
              <a:spcAft>
                <a:spcPts val="0"/>
              </a:spcAft>
              <a:buClr>
                <a:srgbClr val="616161"/>
              </a:buClr>
              <a:buSzPts val="1800"/>
              <a:buFont typeface="Proxima Nova"/>
              <a:buNone/>
            </a:pPr>
            <a:endParaRPr sz="1600" dirty="0">
              <a:solidFill>
                <a:srgbClr val="000000"/>
              </a:solidFill>
              <a:latin typeface="Poppins Medium"/>
              <a:ea typeface="Poppins Medium"/>
              <a:cs typeface="Poppins Medium"/>
              <a:sym typeface="Poppins Medium"/>
            </a:endParaRPr>
          </a:p>
          <a:p>
            <a:pPr marL="285750" indent="-285750">
              <a:buFont typeface="Wingdings" panose="05000000000000000000" pitchFamily="2" charset="2"/>
              <a:buChar char="§"/>
            </a:pPr>
            <a:r>
              <a:rPr lang="en-US" dirty="0"/>
              <a:t>Frontend &amp; User Interface – </a:t>
            </a:r>
          </a:p>
          <a:p>
            <a:r>
              <a:rPr lang="en-US" dirty="0"/>
              <a:t>Flutter: For cross-platform mobile and web app development (Dart language).</a:t>
            </a:r>
          </a:p>
          <a:p>
            <a:endParaRPr lang="en-US" dirty="0"/>
          </a:p>
          <a:p>
            <a:pPr marL="285750" indent="-285750">
              <a:buFont typeface="Wingdings" panose="05000000000000000000" pitchFamily="2" charset="2"/>
              <a:buChar char="§"/>
            </a:pPr>
            <a:r>
              <a:rPr lang="en-IN" dirty="0"/>
              <a:t>Wallet &amp; Authentication - </a:t>
            </a:r>
          </a:p>
          <a:p>
            <a:r>
              <a:rPr lang="en-IN" dirty="0" err="1"/>
              <a:t>Eternl</a:t>
            </a:r>
            <a:r>
              <a:rPr lang="en-IN" dirty="0"/>
              <a:t> Wallet: Cardano browser wallet with CIP-30 integration for </a:t>
            </a:r>
            <a:r>
              <a:rPr lang="en-IN" dirty="0" err="1"/>
              <a:t>DApp</a:t>
            </a:r>
            <a:r>
              <a:rPr lang="en-IN" dirty="0"/>
              <a:t> connections.​</a:t>
            </a:r>
          </a:p>
          <a:p>
            <a:r>
              <a:rPr lang="en-IN" dirty="0"/>
              <a:t>Cardano DID (Atala PRISM or other DID method): For decentralized identity and verifiable credentials</a:t>
            </a:r>
          </a:p>
          <a:p>
            <a:endParaRPr lang="en-IN" dirty="0"/>
          </a:p>
          <a:p>
            <a:pPr marL="285750" indent="-285750">
              <a:buFont typeface="Wingdings" panose="05000000000000000000" pitchFamily="2" charset="2"/>
              <a:buChar char="§"/>
            </a:pPr>
            <a:r>
              <a:rPr lang="en-US" dirty="0"/>
              <a:t>Smart Contracts &amp; Blockchain Integration -</a:t>
            </a:r>
          </a:p>
          <a:p>
            <a:r>
              <a:rPr lang="en-US" dirty="0"/>
              <a:t>Aiken: Modern Cardano smart contract language for writing robust, auditable smart contracts.</a:t>
            </a:r>
          </a:p>
          <a:p>
            <a:endParaRPr lang="en-IN" dirty="0"/>
          </a:p>
          <a:p>
            <a:pPr marL="285750" indent="-285750">
              <a:buFont typeface="Wingdings" panose="05000000000000000000" pitchFamily="2" charset="2"/>
              <a:buChar char="§"/>
            </a:pPr>
            <a:r>
              <a:rPr lang="en-US" dirty="0"/>
              <a:t>Property/Asset Tokens -</a:t>
            </a:r>
          </a:p>
          <a:p>
            <a:r>
              <a:rPr lang="en-US" dirty="0"/>
              <a:t>NFT Standards: Cardano NFT minting for representing property titles and deeds.</a:t>
            </a:r>
          </a:p>
          <a:p>
            <a:endParaRPr lang="en-IN" dirty="0"/>
          </a:p>
        </p:txBody>
      </p:sp>
      <p:pic>
        <p:nvPicPr>
          <p:cNvPr id="106" name="Google Shape;106;p20" title="Border frame PPT.png"/>
          <p:cNvPicPr preferRelativeResize="0"/>
          <p:nvPr/>
        </p:nvPicPr>
        <p:blipFill>
          <a:blip r:embed="rId3">
            <a:alphaModFix/>
          </a:blip>
          <a:stretch>
            <a:fillRect/>
          </a:stretch>
        </p:blipFill>
        <p:spPr>
          <a:xfrm>
            <a:off x="0" y="0"/>
            <a:ext cx="9144003" cy="7768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p:nvPr/>
        </p:nvSpPr>
        <p:spPr>
          <a:xfrm>
            <a:off x="311700" y="951850"/>
            <a:ext cx="8520600" cy="40125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616161"/>
              </a:buClr>
              <a:buSzPts val="1800"/>
              <a:buFont typeface="Proxima Nova"/>
              <a:buNone/>
            </a:pPr>
            <a:r>
              <a:rPr lang="en-GB" sz="1600" dirty="0">
                <a:solidFill>
                  <a:srgbClr val="000000"/>
                </a:solidFill>
                <a:latin typeface="Poppins Medium"/>
                <a:ea typeface="Poppins Medium"/>
                <a:cs typeface="Poppins Medium"/>
                <a:sym typeface="Poppins Medium"/>
              </a:rPr>
              <a:t>Estimated implementation cost (optional):</a:t>
            </a:r>
          </a:p>
          <a:p>
            <a:pPr lvl="0">
              <a:lnSpc>
                <a:spcPct val="115000"/>
              </a:lnSpc>
              <a:spcAft>
                <a:spcPts val="1200"/>
              </a:spcAft>
              <a:buClr>
                <a:srgbClr val="616161"/>
              </a:buClr>
              <a:buSzPts val="1800"/>
            </a:pPr>
            <a:r>
              <a:rPr lang="en-US" sz="1600" dirty="0">
                <a:latin typeface="Poppins Medium"/>
                <a:ea typeface="Poppins Medium"/>
                <a:cs typeface="Poppins Medium"/>
                <a:sym typeface="Poppins Medium"/>
              </a:rPr>
              <a:t>1. Blockchain Core - 35-40% </a:t>
            </a:r>
          </a:p>
          <a:p>
            <a:pPr lvl="0">
              <a:lnSpc>
                <a:spcPct val="115000"/>
              </a:lnSpc>
              <a:spcAft>
                <a:spcPts val="1200"/>
              </a:spcAft>
              <a:buClr>
                <a:srgbClr val="616161"/>
              </a:buClr>
              <a:buSzPts val="1800"/>
            </a:pPr>
            <a:r>
              <a:rPr lang="en-US" sz="1600" dirty="0">
                <a:latin typeface="Poppins Medium"/>
                <a:ea typeface="Poppins Medium"/>
                <a:cs typeface="Poppins Medium"/>
                <a:sym typeface="Poppins Medium"/>
              </a:rPr>
              <a:t>2. Mobile </a:t>
            </a:r>
            <a:r>
              <a:rPr lang="en-US" sz="1600" dirty="0" err="1">
                <a:latin typeface="Poppins Medium"/>
                <a:ea typeface="Poppins Medium"/>
                <a:cs typeface="Poppins Medium"/>
                <a:sym typeface="Poppins Medium"/>
              </a:rPr>
              <a:t>DApp</a:t>
            </a:r>
            <a:r>
              <a:rPr lang="en-US" sz="1600" dirty="0">
                <a:latin typeface="Poppins Medium"/>
                <a:ea typeface="Poppins Medium"/>
                <a:cs typeface="Poppins Medium"/>
                <a:sym typeface="Poppins Medium"/>
              </a:rPr>
              <a:t> - 20-25%</a:t>
            </a:r>
          </a:p>
          <a:p>
            <a:pPr lvl="0">
              <a:lnSpc>
                <a:spcPct val="115000"/>
              </a:lnSpc>
              <a:spcAft>
                <a:spcPts val="1200"/>
              </a:spcAft>
              <a:buClr>
                <a:srgbClr val="616161"/>
              </a:buClr>
              <a:buSzPts val="1800"/>
            </a:pPr>
            <a:r>
              <a:rPr lang="en-US" sz="1600" dirty="0">
                <a:latin typeface="Poppins Medium"/>
                <a:ea typeface="Poppins Medium"/>
                <a:cs typeface="Poppins Medium"/>
                <a:sym typeface="Poppins Medium"/>
              </a:rPr>
              <a:t>3. Legal &amp; Security - 20-25%</a:t>
            </a:r>
          </a:p>
          <a:p>
            <a:pPr lvl="0">
              <a:lnSpc>
                <a:spcPct val="115000"/>
              </a:lnSpc>
              <a:spcAft>
                <a:spcPts val="1200"/>
              </a:spcAft>
              <a:buClr>
                <a:srgbClr val="616161"/>
              </a:buClr>
              <a:buSzPts val="1800"/>
            </a:pPr>
            <a:r>
              <a:rPr lang="en-US" sz="1600" dirty="0">
                <a:latin typeface="Poppins Medium"/>
                <a:ea typeface="Poppins Medium"/>
                <a:cs typeface="Poppins Medium"/>
                <a:sym typeface="Poppins Medium"/>
              </a:rPr>
              <a:t>4. Back-End &amp; Buffer - 15-20% </a:t>
            </a:r>
          </a:p>
          <a:p>
            <a:pPr lvl="0">
              <a:lnSpc>
                <a:spcPct val="115000"/>
              </a:lnSpc>
              <a:spcAft>
                <a:spcPts val="1200"/>
              </a:spcAft>
              <a:buClr>
                <a:srgbClr val="616161"/>
              </a:buClr>
              <a:buSzPts val="1800"/>
            </a:pPr>
            <a:endParaRPr lang="en-US" sz="1600" dirty="0">
              <a:latin typeface="Poppins Medium"/>
              <a:ea typeface="Poppins Medium"/>
              <a:cs typeface="Poppins Medium"/>
              <a:sym typeface="Poppins Medium"/>
            </a:endParaRPr>
          </a:p>
          <a:p>
            <a:pPr lvl="0">
              <a:lnSpc>
                <a:spcPct val="115000"/>
              </a:lnSpc>
              <a:spcAft>
                <a:spcPts val="1200"/>
              </a:spcAft>
              <a:buClr>
                <a:srgbClr val="616161"/>
              </a:buClr>
              <a:buSzPts val="1800"/>
            </a:pPr>
            <a:r>
              <a:rPr lang="en-US" sz="1600" dirty="0">
                <a:latin typeface="Poppins Medium"/>
                <a:ea typeface="Poppins Medium"/>
                <a:cs typeface="Poppins Medium"/>
                <a:sym typeface="Poppins Medium"/>
              </a:rPr>
              <a:t>Total Est =- 1Cr - 2.3Cr</a:t>
            </a:r>
            <a:endParaRPr lang="en-GB" sz="1600" i="0" u="none" strike="noStrike" cap="none" dirty="0">
              <a:latin typeface="Poppins Medium"/>
              <a:ea typeface="Poppins Medium"/>
              <a:cs typeface="Poppins Medium"/>
              <a:sym typeface="Poppins Medium"/>
            </a:endParaRPr>
          </a:p>
        </p:txBody>
      </p:sp>
      <p:pic>
        <p:nvPicPr>
          <p:cNvPr id="112" name="Google Shape;112;p21" title="Border frame PPT.png"/>
          <p:cNvPicPr preferRelativeResize="0"/>
          <p:nvPr/>
        </p:nvPicPr>
        <p:blipFill>
          <a:blip r:embed="rId3">
            <a:alphaModFix/>
          </a:blip>
          <a:stretch>
            <a:fillRect/>
          </a:stretch>
        </p:blipFill>
        <p:spPr>
          <a:xfrm>
            <a:off x="0" y="0"/>
            <a:ext cx="9143997" cy="77688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p:nvPr/>
        </p:nvSpPr>
        <p:spPr>
          <a:xfrm>
            <a:off x="311700" y="936100"/>
            <a:ext cx="8520600" cy="40125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616161"/>
              </a:buClr>
              <a:buSzPts val="1800"/>
              <a:buFont typeface="Proxima Nova"/>
              <a:buNone/>
            </a:pPr>
            <a:r>
              <a:rPr lang="en-GB" sz="1600" dirty="0">
                <a:solidFill>
                  <a:srgbClr val="000000"/>
                </a:solidFill>
                <a:latin typeface="Poppins Medium"/>
                <a:ea typeface="Poppins Medium"/>
                <a:cs typeface="Poppins Medium"/>
                <a:sym typeface="Poppins Medium"/>
              </a:rPr>
              <a:t>Add as per the requirements for the hackathon:</a:t>
            </a:r>
          </a:p>
          <a:p>
            <a:pPr marL="342900" marR="0" lvl="0" indent="-342900" algn="l" rtl="0">
              <a:lnSpc>
                <a:spcPct val="115000"/>
              </a:lnSpc>
              <a:spcBef>
                <a:spcPts val="0"/>
              </a:spcBef>
              <a:spcAft>
                <a:spcPts val="1200"/>
              </a:spcAft>
              <a:buClr>
                <a:srgbClr val="616161"/>
              </a:buClr>
              <a:buSzPts val="1800"/>
              <a:buFont typeface="+mj-lt"/>
              <a:buAutoNum type="arabicPeriod"/>
            </a:pPr>
            <a:r>
              <a:rPr lang="en-GB" sz="1600" i="0" u="none" strike="noStrike" cap="none">
                <a:latin typeface="Poppins Medium"/>
                <a:ea typeface="Poppins Medium"/>
                <a:cs typeface="Poppins Medium"/>
                <a:sym typeface="Poppins Medium"/>
              </a:rPr>
              <a:t>High Speed Internet</a:t>
            </a:r>
            <a:r>
              <a:rPr lang="en-GB" sz="1600" i="0" u="none" strike="noStrike" cap="none" dirty="0">
                <a:latin typeface="Poppins Medium"/>
                <a:ea typeface="Poppins Medium"/>
                <a:cs typeface="Poppins Medium"/>
                <a:sym typeface="Poppins Medium"/>
              </a:rPr>
              <a:t>.</a:t>
            </a:r>
          </a:p>
          <a:p>
            <a:pPr marL="342900" marR="0" lvl="0" indent="-342900" algn="l" rtl="0">
              <a:lnSpc>
                <a:spcPct val="115000"/>
              </a:lnSpc>
              <a:spcBef>
                <a:spcPts val="0"/>
              </a:spcBef>
              <a:spcAft>
                <a:spcPts val="1200"/>
              </a:spcAft>
              <a:buClr>
                <a:srgbClr val="616161"/>
              </a:buClr>
              <a:buSzPts val="1800"/>
              <a:buFont typeface="+mj-lt"/>
              <a:buAutoNum type="arabicPeriod"/>
            </a:pPr>
            <a:r>
              <a:rPr lang="en-GB" sz="1600" dirty="0">
                <a:solidFill>
                  <a:srgbClr val="000000"/>
                </a:solidFill>
                <a:latin typeface="Poppins Medium"/>
                <a:ea typeface="Poppins Medium"/>
                <a:cs typeface="Poppins Medium"/>
                <a:sym typeface="Poppins Medium"/>
              </a:rPr>
              <a:t>Charging port or Socket.</a:t>
            </a:r>
          </a:p>
          <a:p>
            <a:pPr marL="342900" marR="0" lvl="0" indent="-342900" algn="l" rtl="0">
              <a:lnSpc>
                <a:spcPct val="115000"/>
              </a:lnSpc>
              <a:spcBef>
                <a:spcPts val="0"/>
              </a:spcBef>
              <a:spcAft>
                <a:spcPts val="1200"/>
              </a:spcAft>
              <a:buClr>
                <a:srgbClr val="616161"/>
              </a:buClr>
              <a:buSzPts val="1800"/>
              <a:buFont typeface="+mj-lt"/>
              <a:buAutoNum type="arabicPeriod"/>
            </a:pPr>
            <a:r>
              <a:rPr lang="en-GB" sz="1600" i="0" u="none" strike="noStrike" cap="none" dirty="0">
                <a:latin typeface="Poppins Medium"/>
                <a:ea typeface="Poppins Medium"/>
                <a:cs typeface="Poppins Medium"/>
                <a:sym typeface="Poppins Medium"/>
              </a:rPr>
              <a:t>Seating place</a:t>
            </a:r>
            <a:r>
              <a:rPr lang="en-GB" sz="1600" dirty="0">
                <a:latin typeface="Poppins Medium"/>
                <a:ea typeface="Poppins Medium"/>
                <a:cs typeface="Poppins Medium"/>
                <a:sym typeface="Poppins Medium"/>
              </a:rPr>
              <a:t> for the Team(3-4)</a:t>
            </a:r>
            <a:endParaRPr sz="1600" i="0" u="none" strike="noStrike" cap="none" dirty="0">
              <a:solidFill>
                <a:srgbClr val="000000"/>
              </a:solidFill>
              <a:latin typeface="Poppins Medium"/>
              <a:ea typeface="Poppins Medium"/>
              <a:cs typeface="Poppins Medium"/>
              <a:sym typeface="Poppins Medium"/>
            </a:endParaRPr>
          </a:p>
        </p:txBody>
      </p:sp>
      <p:pic>
        <p:nvPicPr>
          <p:cNvPr id="118" name="Google Shape;118;p22" title="Border frame PPT.png"/>
          <p:cNvPicPr preferRelativeResize="0"/>
          <p:nvPr/>
        </p:nvPicPr>
        <p:blipFill>
          <a:blip r:embed="rId3">
            <a:alphaModFix/>
          </a:blip>
          <a:stretch>
            <a:fillRect/>
          </a:stretch>
        </p:blipFill>
        <p:spPr>
          <a:xfrm>
            <a:off x="0" y="0"/>
            <a:ext cx="9144003" cy="7768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3" title="End slide PPT.png"/>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Ganapati</Template>
  <TotalTime>2</TotalTime>
  <Words>656</Words>
  <Application>Microsoft Office PowerPoint</Application>
  <PresentationFormat>On-screen Show (16:9)</PresentationFormat>
  <Paragraphs>96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Wingdings</vt:lpstr>
      <vt:lpstr>Arial</vt:lpstr>
      <vt:lpstr>Poppins Medium</vt:lpstr>
      <vt:lpstr>Proxima Nova</vt:lpstr>
      <vt:lpstr>Poppins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Gourav Singh</dc:creator>
  <cp:lastModifiedBy>Gourav Singh</cp:lastModifiedBy>
  <cp:revision>1</cp:revision>
  <dcterms:created xsi:type="dcterms:W3CDTF">2025-11-16T03:53:41Z</dcterms:created>
  <dcterms:modified xsi:type="dcterms:W3CDTF">2025-11-16T03:56:26Z</dcterms:modified>
</cp:coreProperties>
</file>